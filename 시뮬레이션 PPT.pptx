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81" r:id="rId4"/>
    <p:sldId id="280" r:id="rId5"/>
    <p:sldId id="284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69" r:id="rId19"/>
    <p:sldId id="271" r:id="rId20"/>
    <p:sldId id="272" r:id="rId21"/>
    <p:sldId id="275" r:id="rId22"/>
    <p:sldId id="282" r:id="rId23"/>
    <p:sldId id="276" r:id="rId24"/>
    <p:sldId id="283" r:id="rId25"/>
    <p:sldId id="285" r:id="rId26"/>
    <p:sldId id="287" r:id="rId27"/>
    <p:sldId id="288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4"/>
    <p:restoredTop sz="94660"/>
  </p:normalViewPr>
  <p:slideViewPr>
    <p:cSldViewPr snapToGrid="0">
      <p:cViewPr varScale="1">
        <p:scale>
          <a:sx n="87" d="100"/>
          <a:sy n="87" d="100"/>
        </p:scale>
        <p:origin x="-485" y="-8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671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80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22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05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5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55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0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52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8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41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24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C2336-6C79-4F4B-8E37-C2ED77328477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A7157-4FDD-4E27-8FEE-9944015AC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70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4208" y="2206729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시스템시뮬레이션 기말 팀 과제 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41127" y="3674054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20152141 </a:t>
            </a:r>
            <a:r>
              <a:rPr lang="ko-KR" altLang="en-US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곽규원</a:t>
            </a:r>
            <a:endParaRPr lang="en-US" altLang="ko-KR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20152154 </a:t>
            </a:r>
            <a:r>
              <a:rPr lang="ko-KR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김우영</a:t>
            </a:r>
            <a:endParaRPr lang="en-US" altLang="ko-KR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20152164 </a:t>
            </a:r>
            <a:r>
              <a:rPr lang="ko-KR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김형준</a:t>
            </a:r>
            <a:endParaRPr lang="en-US" altLang="ko-KR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20152181 </a:t>
            </a:r>
            <a:r>
              <a:rPr lang="ko-KR" altLang="en-US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서한동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975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ko-KR" altLang="en-US" sz="4800" dirty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목적</a:t>
            </a:r>
            <a:r>
              <a:rPr lang="ko-KR" altLang="en-US" sz="3600" dirty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497349" y="1510860"/>
            <a:ext cx="5197302" cy="29616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35951" y="5374655"/>
            <a:ext cx="8674935" cy="384721"/>
          </a:xfrm>
          <a:prstGeom prst="rect">
            <a:avLst/>
          </a:prstGeom>
          <a:noFill/>
          <a:ln w="50800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ko-KR" altLang="en-US" sz="1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공항 출국 과정 시뮬레이션을 통해 </a:t>
            </a:r>
            <a:r>
              <a:rPr lang="ko-KR" altLang="en-US" sz="19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효율적인 운영 및 고객 만족을 </a:t>
            </a:r>
            <a:r>
              <a:rPr lang="ko-KR" altLang="en-US" sz="1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목표로 한다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835951" y="5210942"/>
            <a:ext cx="8674935" cy="712148"/>
          </a:xfrm>
          <a:prstGeom prst="rect">
            <a:avLst/>
          </a:prstGeom>
          <a:ln w="50800" cap="flat" cmpd="sng">
            <a:solidFill>
              <a:schemeClr val="accent4">
                <a:lumMod val="80000"/>
                <a:lumOff val="20000"/>
              </a:schemeClr>
            </a:solidFill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>
              <a:defRPr lang="ko-KR" altLang="en-US"/>
            </a:pPr>
            <a:endParaRPr lang="ko-K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소개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공항 도착 정보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915046"/>
              </p:ext>
            </p:extLst>
          </p:nvPr>
        </p:nvGraphicFramePr>
        <p:xfrm>
          <a:off x="2548659" y="2716101"/>
          <a:ext cx="7094681" cy="203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213">
                  <a:extLst>
                    <a:ext uri="{9D8B030D-6E8A-4147-A177-3AD203B41FA5}">
                      <a16:colId xmlns:a16="http://schemas.microsoft.com/office/drawing/2014/main" xmlns="" val="2322404599"/>
                    </a:ext>
                  </a:extLst>
                </a:gridCol>
                <a:gridCol w="2294312">
                  <a:extLst>
                    <a:ext uri="{9D8B030D-6E8A-4147-A177-3AD203B41FA5}">
                      <a16:colId xmlns:a16="http://schemas.microsoft.com/office/drawing/2014/main" xmlns="" val="1936122837"/>
                    </a:ext>
                  </a:extLst>
                </a:gridCol>
                <a:gridCol w="3433156">
                  <a:extLst>
                    <a:ext uri="{9D8B030D-6E8A-4147-A177-3AD203B41FA5}">
                      <a16:colId xmlns:a16="http://schemas.microsoft.com/office/drawing/2014/main" xmlns="" val="2352576054"/>
                    </a:ext>
                  </a:extLst>
                </a:gridCol>
              </a:tblGrid>
              <a:tr h="4578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활동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도착 간격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Entities per Arrival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415497"/>
                  </a:ext>
                </a:extLst>
              </a:tr>
              <a:tr h="506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자가용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EXPO(10)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분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24919"/>
                  </a:ext>
                </a:extLst>
              </a:tr>
              <a:tr h="506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택시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EXPO(14)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ko-KR" altLang="en-US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분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UNIF(1,4)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72968784"/>
                  </a:ext>
                </a:extLst>
              </a:tr>
              <a:tr h="506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공항 버스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EXPO(45)</a:t>
                      </a:r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분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UNIF(30,45)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26024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76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소개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공항 내부 정보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008595"/>
              </p:ext>
            </p:extLst>
          </p:nvPr>
        </p:nvGraphicFramePr>
        <p:xfrm>
          <a:off x="3311968" y="2436344"/>
          <a:ext cx="5568063" cy="3339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521">
                  <a:extLst>
                    <a:ext uri="{9D8B030D-6E8A-4147-A177-3AD203B41FA5}">
                      <a16:colId xmlns:a16="http://schemas.microsoft.com/office/drawing/2014/main" xmlns="" val="2322404599"/>
                    </a:ext>
                  </a:extLst>
                </a:gridCol>
                <a:gridCol w="1529542">
                  <a:extLst>
                    <a:ext uri="{9D8B030D-6E8A-4147-A177-3AD203B41FA5}">
                      <a16:colId xmlns:a16="http://schemas.microsoft.com/office/drawing/2014/main" xmlns="" val="1936122837"/>
                    </a:ext>
                  </a:extLst>
                </a:gridCol>
              </a:tblGrid>
              <a:tr h="4834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시설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err="1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갯수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415497"/>
                  </a:ext>
                </a:extLst>
              </a:tr>
              <a:tr h="412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Self </a:t>
                      </a:r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Counter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6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24919"/>
                  </a:ext>
                </a:extLst>
              </a:tr>
              <a:tr h="392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Counter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6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72968784"/>
                  </a:ext>
                </a:extLst>
              </a:tr>
              <a:tr h="392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Body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Inspection Machine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3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26024844"/>
                  </a:ext>
                </a:extLst>
              </a:tr>
              <a:tr h="392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Belongings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Inspection Machine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2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0522571"/>
                  </a:ext>
                </a:extLst>
              </a:tr>
              <a:tr h="4712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Tax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Free Store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8 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059591"/>
                  </a:ext>
                </a:extLst>
              </a:tr>
              <a:tr h="392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Airplane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Gate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8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0463122"/>
                  </a:ext>
                </a:extLst>
              </a:tr>
              <a:tr h="3412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AirPlane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42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58919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375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소개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소요 시간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978298"/>
              </p:ext>
            </p:extLst>
          </p:nvPr>
        </p:nvGraphicFramePr>
        <p:xfrm>
          <a:off x="3979372" y="2217000"/>
          <a:ext cx="4233255" cy="3469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>
                  <a:extLst>
                    <a:ext uri="{9D8B030D-6E8A-4147-A177-3AD203B41FA5}">
                      <a16:colId xmlns:a16="http://schemas.microsoft.com/office/drawing/2014/main" xmlns="" val="2322404599"/>
                    </a:ext>
                  </a:extLst>
                </a:gridCol>
                <a:gridCol w="1878675">
                  <a:extLst>
                    <a:ext uri="{9D8B030D-6E8A-4147-A177-3AD203B41FA5}">
                      <a16:colId xmlns:a16="http://schemas.microsoft.com/office/drawing/2014/main" xmlns="" val="1936122837"/>
                    </a:ext>
                  </a:extLst>
                </a:gridCol>
              </a:tblGrid>
              <a:tr h="5091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활동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소요 시간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415497"/>
                  </a:ext>
                </a:extLst>
              </a:tr>
              <a:tr h="3988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Self </a:t>
                      </a:r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12</a:t>
                      </a:r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분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24919"/>
                  </a:ext>
                </a:extLst>
              </a:tr>
              <a:tr h="3988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7</a:t>
                      </a:r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분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72968784"/>
                  </a:ext>
                </a:extLst>
              </a:tr>
              <a:tr h="3988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Body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Inspection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15</a:t>
                      </a:r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분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26024844"/>
                  </a:ext>
                </a:extLst>
              </a:tr>
              <a:tr h="3988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Tax Free Store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EXPO(30) </a:t>
                      </a:r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분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0522571"/>
                  </a:ext>
                </a:extLst>
              </a:tr>
              <a:tr h="4784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Luggage Inspection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30</a:t>
                      </a:r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초</a:t>
                      </a:r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059591"/>
                  </a:ext>
                </a:extLst>
              </a:tr>
              <a:tr h="3988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Check UP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60</a:t>
                      </a:r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분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0463122"/>
                  </a:ext>
                </a:extLst>
              </a:tr>
              <a:tr h="4784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Waiting time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80</a:t>
                      </a:r>
                      <a:r>
                        <a:rPr lang="ko-KR" altLang="en-US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분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58919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43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1) Total Flow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67" y="1630391"/>
            <a:ext cx="10179169" cy="508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7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2-1) Arrival Flow  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55" y="1550924"/>
            <a:ext cx="10566400" cy="447118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38909" y="1918202"/>
            <a:ext cx="5818909" cy="23859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945833" y="1059918"/>
            <a:ext cx="1925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대중교통 도착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5" name="구부러진 연결선 14"/>
          <p:cNvCxnSpPr>
            <a:stCxn id="12" idx="0"/>
          </p:cNvCxnSpPr>
          <p:nvPr/>
        </p:nvCxnSpPr>
        <p:spPr>
          <a:xfrm rot="5400000" flipH="1" flipV="1">
            <a:off x="5004114" y="-67258"/>
            <a:ext cx="629710" cy="3341210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748145" y="4373854"/>
            <a:ext cx="9615055" cy="15466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377763" y="2939081"/>
            <a:ext cx="2454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공항으로 승객 입장</a:t>
            </a:r>
          </a:p>
        </p:txBody>
      </p:sp>
      <p:cxnSp>
        <p:nvCxnSpPr>
          <p:cNvPr id="3" name="구부러진 연결선 2"/>
          <p:cNvCxnSpPr>
            <a:endCxn id="23" idx="1"/>
          </p:cNvCxnSpPr>
          <p:nvPr/>
        </p:nvCxnSpPr>
        <p:spPr>
          <a:xfrm rot="5400000" flipH="1" flipV="1">
            <a:off x="6534602" y="3516403"/>
            <a:ext cx="1189650" cy="496672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구부러진 연결선 23"/>
          <p:cNvCxnSpPr/>
          <p:nvPr/>
        </p:nvCxnSpPr>
        <p:spPr>
          <a:xfrm rot="10800000" flipV="1">
            <a:off x="1364819" y="5392814"/>
            <a:ext cx="427037" cy="360363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구부러진 연결선 29"/>
          <p:cNvCxnSpPr>
            <a:endCxn id="33" idx="1"/>
          </p:cNvCxnSpPr>
          <p:nvPr/>
        </p:nvCxnSpPr>
        <p:spPr>
          <a:xfrm rot="16200000" flipH="1">
            <a:off x="5913438" y="5622780"/>
            <a:ext cx="865909" cy="574675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730" y="5902037"/>
            <a:ext cx="4133850" cy="882072"/>
          </a:xfrm>
          <a:prstGeom prst="rect">
            <a:avLst/>
          </a:prstGeom>
        </p:spPr>
      </p:pic>
      <p:cxnSp>
        <p:nvCxnSpPr>
          <p:cNvPr id="38" name="구부러진 연결선 37"/>
          <p:cNvCxnSpPr>
            <a:endCxn id="40" idx="2"/>
          </p:cNvCxnSpPr>
          <p:nvPr/>
        </p:nvCxnSpPr>
        <p:spPr>
          <a:xfrm flipV="1">
            <a:off x="8386618" y="4656138"/>
            <a:ext cx="1293091" cy="654771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784" y="3827463"/>
            <a:ext cx="4133850" cy="828675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896" y="5807220"/>
            <a:ext cx="2815503" cy="963035"/>
          </a:xfrm>
          <a:prstGeom prst="rect">
            <a:avLst/>
          </a:prstGeom>
        </p:spPr>
      </p:pic>
      <p:cxnSp>
        <p:nvCxnSpPr>
          <p:cNvPr id="50" name="구부러진 연결선 49"/>
          <p:cNvCxnSpPr>
            <a:endCxn id="48" idx="0"/>
          </p:cNvCxnSpPr>
          <p:nvPr/>
        </p:nvCxnSpPr>
        <p:spPr>
          <a:xfrm>
            <a:off x="3343564" y="5357091"/>
            <a:ext cx="735084" cy="450129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691" y="5796951"/>
            <a:ext cx="2409825" cy="9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2-1) Arrival Flow  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55" y="1550924"/>
            <a:ext cx="10566400" cy="447118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38909" y="1918202"/>
            <a:ext cx="5818909" cy="23859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945833" y="1059918"/>
            <a:ext cx="1925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대중교통 도착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5" name="구부러진 연결선 14"/>
          <p:cNvCxnSpPr>
            <a:stCxn id="12" idx="0"/>
          </p:cNvCxnSpPr>
          <p:nvPr/>
        </p:nvCxnSpPr>
        <p:spPr>
          <a:xfrm rot="5400000" flipH="1" flipV="1">
            <a:off x="5004114" y="-67258"/>
            <a:ext cx="629710" cy="3341210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748145" y="4373854"/>
            <a:ext cx="9615055" cy="15466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377763" y="2939081"/>
            <a:ext cx="2454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공항으로 승객 입장</a:t>
            </a:r>
          </a:p>
        </p:txBody>
      </p:sp>
      <p:cxnSp>
        <p:nvCxnSpPr>
          <p:cNvPr id="3" name="구부러진 연결선 2"/>
          <p:cNvCxnSpPr>
            <a:endCxn id="23" idx="1"/>
          </p:cNvCxnSpPr>
          <p:nvPr/>
        </p:nvCxnSpPr>
        <p:spPr>
          <a:xfrm rot="5400000" flipH="1" flipV="1">
            <a:off x="6534602" y="3516403"/>
            <a:ext cx="1189650" cy="496672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구부러진 연결선 29"/>
          <p:cNvCxnSpPr>
            <a:endCxn id="33" idx="1"/>
          </p:cNvCxnSpPr>
          <p:nvPr/>
        </p:nvCxnSpPr>
        <p:spPr>
          <a:xfrm rot="16200000" flipH="1">
            <a:off x="5913438" y="5622780"/>
            <a:ext cx="865909" cy="574675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구부러진 연결선 37"/>
          <p:cNvCxnSpPr>
            <a:endCxn id="40" idx="2"/>
          </p:cNvCxnSpPr>
          <p:nvPr/>
        </p:nvCxnSpPr>
        <p:spPr>
          <a:xfrm flipV="1">
            <a:off x="8386618" y="4656138"/>
            <a:ext cx="1293091" cy="654771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535273" y="227276"/>
            <a:ext cx="10437962" cy="634694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45" y="1442563"/>
            <a:ext cx="10353528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4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2-1) Arrival Flow  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55" y="1550924"/>
            <a:ext cx="10566400" cy="447118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38909" y="1918202"/>
            <a:ext cx="5818909" cy="23859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5833" y="1059918"/>
            <a:ext cx="1925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대중교통 도착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5" name="구부러진 연결선 14"/>
          <p:cNvCxnSpPr>
            <a:stCxn id="12" idx="0"/>
          </p:cNvCxnSpPr>
          <p:nvPr/>
        </p:nvCxnSpPr>
        <p:spPr>
          <a:xfrm rot="5400000" flipH="1" flipV="1">
            <a:off x="5004114" y="-67258"/>
            <a:ext cx="629710" cy="3341210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748145" y="4373854"/>
            <a:ext cx="9615055" cy="15466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77763" y="2939081"/>
            <a:ext cx="2454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공항으로 승객 입장</a:t>
            </a:r>
          </a:p>
        </p:txBody>
      </p:sp>
      <p:cxnSp>
        <p:nvCxnSpPr>
          <p:cNvPr id="3" name="구부러진 연결선 2"/>
          <p:cNvCxnSpPr>
            <a:endCxn id="23" idx="1"/>
          </p:cNvCxnSpPr>
          <p:nvPr/>
        </p:nvCxnSpPr>
        <p:spPr>
          <a:xfrm rot="5400000" flipH="1" flipV="1">
            <a:off x="6534602" y="3516403"/>
            <a:ext cx="1189650" cy="496672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구부러진 연결선 29"/>
          <p:cNvCxnSpPr>
            <a:endCxn id="33" idx="1"/>
          </p:cNvCxnSpPr>
          <p:nvPr/>
        </p:nvCxnSpPr>
        <p:spPr>
          <a:xfrm rot="16200000" flipH="1">
            <a:off x="5913438" y="5622780"/>
            <a:ext cx="865909" cy="574675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구부러진 연결선 37"/>
          <p:cNvCxnSpPr>
            <a:endCxn id="40" idx="2"/>
          </p:cNvCxnSpPr>
          <p:nvPr/>
        </p:nvCxnSpPr>
        <p:spPr>
          <a:xfrm flipV="1">
            <a:off x="8386618" y="4656138"/>
            <a:ext cx="1293091" cy="654771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517585" y="349135"/>
            <a:ext cx="10437962" cy="634694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75" y="1739917"/>
            <a:ext cx="10609456" cy="388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Assign Plane Number Logic 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963327"/>
              </p:ext>
            </p:extLst>
          </p:nvPr>
        </p:nvGraphicFramePr>
        <p:xfrm>
          <a:off x="1921270" y="1872191"/>
          <a:ext cx="8128000" cy="4138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31">
                  <a:extLst>
                    <a:ext uri="{9D8B030D-6E8A-4147-A177-3AD203B41FA5}">
                      <a16:colId xmlns:a16="http://schemas.microsoft.com/office/drawing/2014/main" xmlns="" val="3108923743"/>
                    </a:ext>
                  </a:extLst>
                </a:gridCol>
                <a:gridCol w="1824769">
                  <a:extLst>
                    <a:ext uri="{9D8B030D-6E8A-4147-A177-3AD203B41FA5}">
                      <a16:colId xmlns:a16="http://schemas.microsoft.com/office/drawing/2014/main" xmlns="" val="3337447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6161944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4416919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858095929"/>
                    </a:ext>
                  </a:extLst>
                </a:gridCol>
              </a:tblGrid>
              <a:tr h="591155"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0.4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0.3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0.2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0.1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27862997"/>
                  </a:ext>
                </a:extLst>
              </a:tr>
              <a:tr h="5911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</a:t>
                      </a:r>
                      <a:r>
                        <a:rPr lang="en-US" altLang="ko-KR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~ 30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1 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2 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3 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4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68318817"/>
                  </a:ext>
                </a:extLst>
              </a:tr>
              <a:tr h="5911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30 ~ 60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2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3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4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5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6249973"/>
                  </a:ext>
                </a:extLst>
              </a:tr>
              <a:tr h="5911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60 ~ 90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3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4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5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6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9070146"/>
                  </a:ext>
                </a:extLst>
              </a:tr>
              <a:tr h="5911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90 ~ 120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4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5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6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7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69567686"/>
                  </a:ext>
                </a:extLst>
              </a:tr>
              <a:tr h="5911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120 ~ 150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5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6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7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8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39726161"/>
                  </a:ext>
                </a:extLst>
              </a:tr>
              <a:tr h="5911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150 ~ 180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6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7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8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Plane 9</a:t>
                      </a:r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8837854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921270" y="2075382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4040" y="1872191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확률</a:t>
            </a:r>
          </a:p>
        </p:txBody>
      </p:sp>
    </p:spTree>
    <p:extLst>
      <p:ext uri="{BB962C8B-B14F-4D97-AF65-F5344CB8AC3E}">
        <p14:creationId xmlns:p14="http://schemas.microsoft.com/office/powerpoint/2010/main" val="419949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2-1) Arrival Flow  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55" y="1550924"/>
            <a:ext cx="10566400" cy="447118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38909" y="1918202"/>
            <a:ext cx="5818909" cy="23859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5833" y="1059918"/>
            <a:ext cx="1925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대중교통 도착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5" name="구부러진 연결선 14"/>
          <p:cNvCxnSpPr>
            <a:stCxn id="12" idx="0"/>
          </p:cNvCxnSpPr>
          <p:nvPr/>
        </p:nvCxnSpPr>
        <p:spPr>
          <a:xfrm rot="5400000" flipH="1" flipV="1">
            <a:off x="5004114" y="-67258"/>
            <a:ext cx="629710" cy="3341210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748145" y="4373854"/>
            <a:ext cx="9615055" cy="15466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77763" y="2939081"/>
            <a:ext cx="2454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공항으로 승객 입장</a:t>
            </a:r>
          </a:p>
        </p:txBody>
      </p:sp>
      <p:cxnSp>
        <p:nvCxnSpPr>
          <p:cNvPr id="3" name="구부러진 연결선 2"/>
          <p:cNvCxnSpPr>
            <a:endCxn id="23" idx="1"/>
          </p:cNvCxnSpPr>
          <p:nvPr/>
        </p:nvCxnSpPr>
        <p:spPr>
          <a:xfrm rot="5400000" flipH="1" flipV="1">
            <a:off x="6534602" y="3516403"/>
            <a:ext cx="1189650" cy="496672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구부러진 연결선 29"/>
          <p:cNvCxnSpPr>
            <a:endCxn id="33" idx="1"/>
          </p:cNvCxnSpPr>
          <p:nvPr/>
        </p:nvCxnSpPr>
        <p:spPr>
          <a:xfrm rot="16200000" flipH="1">
            <a:off x="5913438" y="5622780"/>
            <a:ext cx="865909" cy="574675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구부러진 연결선 37"/>
          <p:cNvCxnSpPr>
            <a:endCxn id="40" idx="2"/>
          </p:cNvCxnSpPr>
          <p:nvPr/>
        </p:nvCxnSpPr>
        <p:spPr>
          <a:xfrm flipV="1">
            <a:off x="8386618" y="4656138"/>
            <a:ext cx="1293091" cy="654771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517585" y="349135"/>
            <a:ext cx="10437962" cy="634694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85" y="1550924"/>
            <a:ext cx="10437962" cy="362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8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2-1) Arrival Flow  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55" y="1550924"/>
            <a:ext cx="10566400" cy="447118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38909" y="1918202"/>
            <a:ext cx="5818909" cy="23859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5833" y="1059918"/>
            <a:ext cx="1925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대중교통 도착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5" name="구부러진 연결선 14"/>
          <p:cNvCxnSpPr>
            <a:stCxn id="12" idx="0"/>
          </p:cNvCxnSpPr>
          <p:nvPr/>
        </p:nvCxnSpPr>
        <p:spPr>
          <a:xfrm rot="5400000" flipH="1" flipV="1">
            <a:off x="5004114" y="-67258"/>
            <a:ext cx="629710" cy="3341210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748145" y="4373854"/>
            <a:ext cx="9615055" cy="15466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77763" y="2939081"/>
            <a:ext cx="2454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공항으로 승객 입장</a:t>
            </a:r>
          </a:p>
        </p:txBody>
      </p:sp>
      <p:cxnSp>
        <p:nvCxnSpPr>
          <p:cNvPr id="3" name="구부러진 연결선 2"/>
          <p:cNvCxnSpPr>
            <a:endCxn id="23" idx="1"/>
          </p:cNvCxnSpPr>
          <p:nvPr/>
        </p:nvCxnSpPr>
        <p:spPr>
          <a:xfrm rot="5400000" flipH="1" flipV="1">
            <a:off x="6534602" y="3516403"/>
            <a:ext cx="1189650" cy="496672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구부러진 연결선 29"/>
          <p:cNvCxnSpPr>
            <a:endCxn id="33" idx="1"/>
          </p:cNvCxnSpPr>
          <p:nvPr/>
        </p:nvCxnSpPr>
        <p:spPr>
          <a:xfrm rot="16200000" flipH="1">
            <a:off x="5913438" y="5622780"/>
            <a:ext cx="865909" cy="574675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구부러진 연결선 37"/>
          <p:cNvCxnSpPr>
            <a:endCxn id="40" idx="2"/>
          </p:cNvCxnSpPr>
          <p:nvPr/>
        </p:nvCxnSpPr>
        <p:spPr>
          <a:xfrm flipV="1">
            <a:off x="8386618" y="4656138"/>
            <a:ext cx="1293091" cy="654771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517585" y="349135"/>
            <a:ext cx="10437962" cy="634694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55" y="1521583"/>
            <a:ext cx="10566400" cy="387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2-2) Inside Airport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27" y="1579417"/>
            <a:ext cx="10510981" cy="493222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01" y="5620328"/>
            <a:ext cx="2295525" cy="1066800"/>
          </a:xfrm>
          <a:prstGeom prst="rect">
            <a:avLst/>
          </a:prstGeom>
        </p:spPr>
      </p:pic>
      <p:cxnSp>
        <p:nvCxnSpPr>
          <p:cNvPr id="9" name="구부러진 연결선 8"/>
          <p:cNvCxnSpPr>
            <a:endCxn id="8" idx="0"/>
          </p:cNvCxnSpPr>
          <p:nvPr/>
        </p:nvCxnSpPr>
        <p:spPr>
          <a:xfrm rot="10800000" flipV="1">
            <a:off x="1413165" y="5061526"/>
            <a:ext cx="942109" cy="558801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379" y="1681019"/>
            <a:ext cx="2606385" cy="582983"/>
          </a:xfrm>
          <a:prstGeom prst="rect">
            <a:avLst/>
          </a:prstGeom>
        </p:spPr>
      </p:pic>
      <p:cxnSp>
        <p:nvCxnSpPr>
          <p:cNvPr id="13" name="구부러진 연결선 12"/>
          <p:cNvCxnSpPr>
            <a:endCxn id="15" idx="2"/>
          </p:cNvCxnSpPr>
          <p:nvPr/>
        </p:nvCxnSpPr>
        <p:spPr>
          <a:xfrm rot="16200000" flipV="1">
            <a:off x="3213675" y="3786329"/>
            <a:ext cx="1644073" cy="51839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1017" y="2312556"/>
            <a:ext cx="2610989" cy="910935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3768436" y="5320146"/>
            <a:ext cx="4368801" cy="11083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8637657" y="5637057"/>
            <a:ext cx="2345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수하물 검사</a:t>
            </a:r>
          </a:p>
        </p:txBody>
      </p:sp>
      <p:cxnSp>
        <p:nvCxnSpPr>
          <p:cNvPr id="28" name="구부러진 연결선 27"/>
          <p:cNvCxnSpPr>
            <a:stCxn id="26" idx="3"/>
            <a:endCxn id="27" idx="1"/>
          </p:cNvCxnSpPr>
          <p:nvPr/>
        </p:nvCxnSpPr>
        <p:spPr>
          <a:xfrm flipV="1">
            <a:off x="8137237" y="5867890"/>
            <a:ext cx="500420" cy="6438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660400" y="3422072"/>
            <a:ext cx="4641273" cy="18518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371982" y="2962172"/>
            <a:ext cx="2345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체크인</a:t>
            </a:r>
          </a:p>
        </p:txBody>
      </p:sp>
      <p:cxnSp>
        <p:nvCxnSpPr>
          <p:cNvPr id="33" name="구부러진 연결선 32"/>
          <p:cNvCxnSpPr>
            <a:stCxn id="31" idx="1"/>
            <a:endCxn id="32" idx="1"/>
          </p:cNvCxnSpPr>
          <p:nvPr/>
        </p:nvCxnSpPr>
        <p:spPr>
          <a:xfrm rot="10800000">
            <a:off x="371982" y="3193006"/>
            <a:ext cx="288418" cy="1155013"/>
          </a:xfrm>
          <a:prstGeom prst="curvedConnector3">
            <a:avLst>
              <a:gd name="adj1" fmla="val 17926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5310909" y="1778000"/>
            <a:ext cx="5301673" cy="33666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8583109" y="754680"/>
            <a:ext cx="2777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소지품 검사 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&amp; 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면세점</a:t>
            </a:r>
          </a:p>
        </p:txBody>
      </p:sp>
      <p:cxnSp>
        <p:nvCxnSpPr>
          <p:cNvPr id="45" name="구부러진 연결선 44"/>
          <p:cNvCxnSpPr>
            <a:stCxn id="43" idx="0"/>
            <a:endCxn id="44" idx="1"/>
          </p:cNvCxnSpPr>
          <p:nvPr/>
        </p:nvCxnSpPr>
        <p:spPr>
          <a:xfrm rot="5400000" flipH="1" flipV="1">
            <a:off x="7876184" y="1071076"/>
            <a:ext cx="792487" cy="621363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85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2-2) Inside Airport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27" y="1579417"/>
            <a:ext cx="10510981" cy="493222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01" y="5620328"/>
            <a:ext cx="2295525" cy="1066800"/>
          </a:xfrm>
          <a:prstGeom prst="rect">
            <a:avLst/>
          </a:prstGeom>
        </p:spPr>
      </p:pic>
      <p:cxnSp>
        <p:nvCxnSpPr>
          <p:cNvPr id="9" name="구부러진 연결선 8"/>
          <p:cNvCxnSpPr>
            <a:endCxn id="8" idx="0"/>
          </p:cNvCxnSpPr>
          <p:nvPr/>
        </p:nvCxnSpPr>
        <p:spPr>
          <a:xfrm rot="10800000" flipV="1">
            <a:off x="1413165" y="5061526"/>
            <a:ext cx="942109" cy="558801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379" y="1681019"/>
            <a:ext cx="2606385" cy="582983"/>
          </a:xfrm>
          <a:prstGeom prst="rect">
            <a:avLst/>
          </a:prstGeom>
        </p:spPr>
      </p:pic>
      <p:cxnSp>
        <p:nvCxnSpPr>
          <p:cNvPr id="13" name="구부러진 연결선 12"/>
          <p:cNvCxnSpPr>
            <a:endCxn id="15" idx="2"/>
          </p:cNvCxnSpPr>
          <p:nvPr/>
        </p:nvCxnSpPr>
        <p:spPr>
          <a:xfrm rot="16200000" flipV="1">
            <a:off x="3213675" y="3786329"/>
            <a:ext cx="1644073" cy="51839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1017" y="2312556"/>
            <a:ext cx="2610989" cy="910935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3768436" y="5320146"/>
            <a:ext cx="4368801" cy="11083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37657" y="5637057"/>
            <a:ext cx="2345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수하물 검사</a:t>
            </a:r>
          </a:p>
        </p:txBody>
      </p:sp>
      <p:cxnSp>
        <p:nvCxnSpPr>
          <p:cNvPr id="28" name="구부러진 연결선 27"/>
          <p:cNvCxnSpPr>
            <a:stCxn id="26" idx="3"/>
            <a:endCxn id="27" idx="1"/>
          </p:cNvCxnSpPr>
          <p:nvPr/>
        </p:nvCxnSpPr>
        <p:spPr>
          <a:xfrm flipV="1">
            <a:off x="8137237" y="5867890"/>
            <a:ext cx="500420" cy="6438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660400" y="3422072"/>
            <a:ext cx="4641273" cy="18518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1982" y="2962172"/>
            <a:ext cx="2345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체크인</a:t>
            </a:r>
          </a:p>
        </p:txBody>
      </p:sp>
      <p:cxnSp>
        <p:nvCxnSpPr>
          <p:cNvPr id="33" name="구부러진 연결선 32"/>
          <p:cNvCxnSpPr>
            <a:stCxn id="31" idx="1"/>
            <a:endCxn id="32" idx="1"/>
          </p:cNvCxnSpPr>
          <p:nvPr/>
        </p:nvCxnSpPr>
        <p:spPr>
          <a:xfrm rot="10800000">
            <a:off x="371982" y="3193006"/>
            <a:ext cx="288418" cy="1155013"/>
          </a:xfrm>
          <a:prstGeom prst="curvedConnector3">
            <a:avLst>
              <a:gd name="adj1" fmla="val 17926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5310909" y="1778000"/>
            <a:ext cx="5301673" cy="33666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583109" y="754680"/>
            <a:ext cx="2777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소지품 검사 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&amp; 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면세점</a:t>
            </a:r>
          </a:p>
        </p:txBody>
      </p:sp>
      <p:cxnSp>
        <p:nvCxnSpPr>
          <p:cNvPr id="45" name="구부러진 연결선 44"/>
          <p:cNvCxnSpPr>
            <a:stCxn id="43" idx="0"/>
            <a:endCxn id="44" idx="1"/>
          </p:cNvCxnSpPr>
          <p:nvPr/>
        </p:nvCxnSpPr>
        <p:spPr>
          <a:xfrm rot="5400000" flipH="1" flipV="1">
            <a:off x="7876184" y="1071076"/>
            <a:ext cx="792487" cy="621363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138022" y="349135"/>
            <a:ext cx="11222703" cy="634694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26" y="1695172"/>
            <a:ext cx="10433398" cy="35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6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2-2) Inside Airport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27" y="1579417"/>
            <a:ext cx="10510981" cy="493222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01" y="5620328"/>
            <a:ext cx="2295525" cy="1066800"/>
          </a:xfrm>
          <a:prstGeom prst="rect">
            <a:avLst/>
          </a:prstGeom>
        </p:spPr>
      </p:pic>
      <p:cxnSp>
        <p:nvCxnSpPr>
          <p:cNvPr id="9" name="구부러진 연결선 8"/>
          <p:cNvCxnSpPr>
            <a:endCxn id="8" idx="0"/>
          </p:cNvCxnSpPr>
          <p:nvPr/>
        </p:nvCxnSpPr>
        <p:spPr>
          <a:xfrm rot="10800000" flipV="1">
            <a:off x="1413165" y="5061526"/>
            <a:ext cx="942109" cy="558801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379" y="1681019"/>
            <a:ext cx="2606385" cy="582983"/>
          </a:xfrm>
          <a:prstGeom prst="rect">
            <a:avLst/>
          </a:prstGeom>
        </p:spPr>
      </p:pic>
      <p:cxnSp>
        <p:nvCxnSpPr>
          <p:cNvPr id="13" name="구부러진 연결선 12"/>
          <p:cNvCxnSpPr>
            <a:endCxn id="15" idx="2"/>
          </p:cNvCxnSpPr>
          <p:nvPr/>
        </p:nvCxnSpPr>
        <p:spPr>
          <a:xfrm rot="16200000" flipV="1">
            <a:off x="3213675" y="3786329"/>
            <a:ext cx="1644073" cy="51839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1017" y="2312556"/>
            <a:ext cx="2610989" cy="910935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3768436" y="5320146"/>
            <a:ext cx="4368801" cy="11083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37657" y="5637057"/>
            <a:ext cx="2345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수하물 검사</a:t>
            </a:r>
          </a:p>
        </p:txBody>
      </p:sp>
      <p:cxnSp>
        <p:nvCxnSpPr>
          <p:cNvPr id="28" name="구부러진 연결선 27"/>
          <p:cNvCxnSpPr>
            <a:stCxn id="26" idx="3"/>
            <a:endCxn id="27" idx="1"/>
          </p:cNvCxnSpPr>
          <p:nvPr/>
        </p:nvCxnSpPr>
        <p:spPr>
          <a:xfrm flipV="1">
            <a:off x="8137237" y="5867890"/>
            <a:ext cx="500420" cy="6438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660400" y="3422072"/>
            <a:ext cx="4641273" cy="18518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1982" y="2962172"/>
            <a:ext cx="2345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체크인</a:t>
            </a:r>
          </a:p>
        </p:txBody>
      </p:sp>
      <p:cxnSp>
        <p:nvCxnSpPr>
          <p:cNvPr id="33" name="구부러진 연결선 32"/>
          <p:cNvCxnSpPr>
            <a:stCxn id="31" idx="1"/>
            <a:endCxn id="32" idx="1"/>
          </p:cNvCxnSpPr>
          <p:nvPr/>
        </p:nvCxnSpPr>
        <p:spPr>
          <a:xfrm rot="10800000">
            <a:off x="371982" y="3193006"/>
            <a:ext cx="288418" cy="1155013"/>
          </a:xfrm>
          <a:prstGeom prst="curvedConnector3">
            <a:avLst>
              <a:gd name="adj1" fmla="val 17926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5310909" y="1778000"/>
            <a:ext cx="5301673" cy="33666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583109" y="754680"/>
            <a:ext cx="2777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소지품 검사 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&amp; 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면세점</a:t>
            </a:r>
          </a:p>
        </p:txBody>
      </p:sp>
      <p:cxnSp>
        <p:nvCxnSpPr>
          <p:cNvPr id="45" name="구부러진 연결선 44"/>
          <p:cNvCxnSpPr>
            <a:stCxn id="43" idx="0"/>
            <a:endCxn id="44" idx="1"/>
          </p:cNvCxnSpPr>
          <p:nvPr/>
        </p:nvCxnSpPr>
        <p:spPr>
          <a:xfrm rot="5400000" flipH="1" flipV="1">
            <a:off x="7876184" y="1071076"/>
            <a:ext cx="792487" cy="621363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138022" y="349135"/>
            <a:ext cx="11222703" cy="634694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45" y="1596638"/>
            <a:ext cx="10051380" cy="2084712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44" y="4010180"/>
            <a:ext cx="10020681" cy="240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3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2-3) Luggage Distribution 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1" y="1598612"/>
            <a:ext cx="10427854" cy="498691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487" y="1117600"/>
            <a:ext cx="3314700" cy="1382568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001164" y="3223491"/>
            <a:ext cx="979054" cy="322349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구부러진 연결선 12"/>
          <p:cNvCxnSpPr>
            <a:endCxn id="11" idx="2"/>
          </p:cNvCxnSpPr>
          <p:nvPr/>
        </p:nvCxnSpPr>
        <p:spPr>
          <a:xfrm flipV="1">
            <a:off x="7453746" y="2500168"/>
            <a:ext cx="785091" cy="718707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2710873" y="3269673"/>
            <a:ext cx="979054" cy="31172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09" y="2281381"/>
            <a:ext cx="1911928" cy="1099125"/>
          </a:xfrm>
          <a:prstGeom prst="rect">
            <a:avLst/>
          </a:prstGeom>
        </p:spPr>
      </p:pic>
      <p:cxnSp>
        <p:nvCxnSpPr>
          <p:cNvPr id="17" name="구부러진 연결선 16"/>
          <p:cNvCxnSpPr>
            <a:stCxn id="15" idx="1"/>
            <a:endCxn id="16" idx="2"/>
          </p:cNvCxnSpPr>
          <p:nvPr/>
        </p:nvCxnSpPr>
        <p:spPr>
          <a:xfrm rot="10800000">
            <a:off x="1288473" y="3380507"/>
            <a:ext cx="1422400" cy="1447803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72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2-3) Luggage Distribution 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1" y="1598612"/>
            <a:ext cx="10427854" cy="498691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487" y="1117600"/>
            <a:ext cx="3314700" cy="1382568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001164" y="3223491"/>
            <a:ext cx="979054" cy="322349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3" name="구부러진 연결선 12"/>
          <p:cNvCxnSpPr>
            <a:endCxn id="11" idx="2"/>
          </p:cNvCxnSpPr>
          <p:nvPr/>
        </p:nvCxnSpPr>
        <p:spPr>
          <a:xfrm flipV="1">
            <a:off x="7453746" y="2500168"/>
            <a:ext cx="785091" cy="718707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2710873" y="3269673"/>
            <a:ext cx="979054" cy="31172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09" y="2281381"/>
            <a:ext cx="1911928" cy="1099125"/>
          </a:xfrm>
          <a:prstGeom prst="rect">
            <a:avLst/>
          </a:prstGeom>
        </p:spPr>
      </p:pic>
      <p:cxnSp>
        <p:nvCxnSpPr>
          <p:cNvPr id="17" name="구부러진 연결선 16"/>
          <p:cNvCxnSpPr>
            <a:stCxn id="15" idx="1"/>
            <a:endCxn id="16" idx="2"/>
          </p:cNvCxnSpPr>
          <p:nvPr/>
        </p:nvCxnSpPr>
        <p:spPr>
          <a:xfrm rot="10800000">
            <a:off x="1288473" y="3380507"/>
            <a:ext cx="1422400" cy="1447803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38022" y="349135"/>
            <a:ext cx="11222703" cy="634694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91" y="1366936"/>
            <a:ext cx="10427854" cy="457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2-3) Luggage Distribution 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1" y="1598612"/>
            <a:ext cx="10427854" cy="498691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487" y="1117600"/>
            <a:ext cx="3314700" cy="1382568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001164" y="3223491"/>
            <a:ext cx="979054" cy="322349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3" name="구부러진 연결선 12"/>
          <p:cNvCxnSpPr>
            <a:endCxn id="11" idx="2"/>
          </p:cNvCxnSpPr>
          <p:nvPr/>
        </p:nvCxnSpPr>
        <p:spPr>
          <a:xfrm flipV="1">
            <a:off x="7453746" y="2500168"/>
            <a:ext cx="785091" cy="718707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2710873" y="3269673"/>
            <a:ext cx="979054" cy="31172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09" y="2281381"/>
            <a:ext cx="1911928" cy="1099125"/>
          </a:xfrm>
          <a:prstGeom prst="rect">
            <a:avLst/>
          </a:prstGeom>
        </p:spPr>
      </p:pic>
      <p:cxnSp>
        <p:nvCxnSpPr>
          <p:cNvPr id="17" name="구부러진 연결선 16"/>
          <p:cNvCxnSpPr>
            <a:stCxn id="15" idx="1"/>
            <a:endCxn id="16" idx="2"/>
          </p:cNvCxnSpPr>
          <p:nvPr/>
        </p:nvCxnSpPr>
        <p:spPr>
          <a:xfrm rot="10800000">
            <a:off x="1288473" y="3380507"/>
            <a:ext cx="1422400" cy="1447803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38022" y="349135"/>
            <a:ext cx="11222703" cy="634694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1528641"/>
            <a:ext cx="10359503" cy="406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4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50" y="1500995"/>
            <a:ext cx="10733325" cy="5167224"/>
          </a:xfrm>
          <a:prstGeom prst="rect">
            <a:avLst/>
          </a:prstGeom>
        </p:spPr>
      </p:pic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2-4) Airplane Flow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26797" y="2286261"/>
            <a:ext cx="9685286" cy="801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158978" y="1590571"/>
            <a:ext cx="2776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비행기 도착 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&amp;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정비</a:t>
            </a:r>
          </a:p>
        </p:txBody>
      </p:sp>
      <p:cxnSp>
        <p:nvCxnSpPr>
          <p:cNvPr id="10" name="구부러진 연결선 9"/>
          <p:cNvCxnSpPr>
            <a:stCxn id="8" idx="0"/>
            <a:endCxn id="9" idx="2"/>
          </p:cNvCxnSpPr>
          <p:nvPr/>
        </p:nvCxnSpPr>
        <p:spPr>
          <a:xfrm rot="16200000" flipV="1">
            <a:off x="5441362" y="2158183"/>
            <a:ext cx="234025" cy="22132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구부러진 연결선 15"/>
          <p:cNvCxnSpPr>
            <a:endCxn id="15" idx="1"/>
          </p:cNvCxnSpPr>
          <p:nvPr/>
        </p:nvCxnSpPr>
        <p:spPr>
          <a:xfrm rot="5400000">
            <a:off x="590954" y="4472660"/>
            <a:ext cx="3381374" cy="163994"/>
          </a:xfrm>
          <a:prstGeom prst="curvedConnector4">
            <a:avLst>
              <a:gd name="adj1" fmla="val 42604"/>
              <a:gd name="adj2" fmla="val 23939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98042" y="3258171"/>
            <a:ext cx="9826183" cy="335828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10613364" y="3623532"/>
            <a:ext cx="1578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게이트 이동 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&amp;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이륙</a:t>
            </a:r>
          </a:p>
        </p:txBody>
      </p:sp>
      <p:cxnSp>
        <p:nvCxnSpPr>
          <p:cNvPr id="36" name="구부러진 연결선 35"/>
          <p:cNvCxnSpPr>
            <a:stCxn id="28" idx="3"/>
            <a:endCxn id="35" idx="2"/>
          </p:cNvCxnSpPr>
          <p:nvPr/>
        </p:nvCxnSpPr>
        <p:spPr>
          <a:xfrm flipV="1">
            <a:off x="10524225" y="4454529"/>
            <a:ext cx="878457" cy="482787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644" y="5745191"/>
            <a:ext cx="3324225" cy="100030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056" y="5729826"/>
            <a:ext cx="1914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8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50" y="1500995"/>
            <a:ext cx="10733325" cy="5167224"/>
          </a:xfrm>
          <a:prstGeom prst="rect">
            <a:avLst/>
          </a:prstGeom>
        </p:spPr>
      </p:pic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1" y="399011"/>
            <a:ext cx="861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구조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2-4) Airplane Flow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26797" y="2286261"/>
            <a:ext cx="9685286" cy="801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58978" y="1590571"/>
            <a:ext cx="2776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비행기 도착 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&amp;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정비</a:t>
            </a:r>
          </a:p>
        </p:txBody>
      </p:sp>
      <p:cxnSp>
        <p:nvCxnSpPr>
          <p:cNvPr id="10" name="구부러진 연결선 9"/>
          <p:cNvCxnSpPr>
            <a:stCxn id="8" idx="0"/>
            <a:endCxn id="9" idx="2"/>
          </p:cNvCxnSpPr>
          <p:nvPr/>
        </p:nvCxnSpPr>
        <p:spPr>
          <a:xfrm rot="16200000" flipV="1">
            <a:off x="5441362" y="2158183"/>
            <a:ext cx="234025" cy="22132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644" y="5745191"/>
            <a:ext cx="3324225" cy="1000305"/>
          </a:xfrm>
          <a:prstGeom prst="rect">
            <a:avLst/>
          </a:prstGeom>
        </p:spPr>
      </p:pic>
      <p:cxnSp>
        <p:nvCxnSpPr>
          <p:cNvPr id="16" name="구부러진 연결선 15"/>
          <p:cNvCxnSpPr>
            <a:endCxn id="15" idx="1"/>
          </p:cNvCxnSpPr>
          <p:nvPr/>
        </p:nvCxnSpPr>
        <p:spPr>
          <a:xfrm rot="5400000">
            <a:off x="590954" y="4472660"/>
            <a:ext cx="3381374" cy="163994"/>
          </a:xfrm>
          <a:prstGeom prst="curvedConnector4">
            <a:avLst>
              <a:gd name="adj1" fmla="val 42604"/>
              <a:gd name="adj2" fmla="val 23939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056" y="5729826"/>
            <a:ext cx="1914525" cy="1057275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698042" y="3258171"/>
            <a:ext cx="9826183" cy="335828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613364" y="3623532"/>
            <a:ext cx="1578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게이트 이동 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&amp;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이륙</a:t>
            </a:r>
          </a:p>
        </p:txBody>
      </p:sp>
      <p:cxnSp>
        <p:nvCxnSpPr>
          <p:cNvPr id="36" name="구부러진 연결선 35"/>
          <p:cNvCxnSpPr>
            <a:stCxn id="28" idx="3"/>
            <a:endCxn id="35" idx="2"/>
          </p:cNvCxnSpPr>
          <p:nvPr/>
        </p:nvCxnSpPr>
        <p:spPr>
          <a:xfrm flipV="1">
            <a:off x="10524225" y="4454529"/>
            <a:ext cx="878457" cy="482787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38022" y="349135"/>
            <a:ext cx="12053978" cy="6437966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01" y="1648775"/>
            <a:ext cx="6910544" cy="405685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9573" y="1567917"/>
            <a:ext cx="3979998" cy="428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2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결과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Run Setup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62243"/>
              </p:ext>
            </p:extLst>
          </p:nvPr>
        </p:nvGraphicFramePr>
        <p:xfrm>
          <a:off x="3642440" y="2455615"/>
          <a:ext cx="4171524" cy="2152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614">
                  <a:extLst>
                    <a:ext uri="{9D8B030D-6E8A-4147-A177-3AD203B41FA5}">
                      <a16:colId xmlns:a16="http://schemas.microsoft.com/office/drawing/2014/main" xmlns="" val="2322404599"/>
                    </a:ext>
                  </a:extLst>
                </a:gridCol>
                <a:gridCol w="1246910">
                  <a:extLst>
                    <a:ext uri="{9D8B030D-6E8A-4147-A177-3AD203B41FA5}">
                      <a16:colId xmlns:a16="http://schemas.microsoft.com/office/drawing/2014/main" xmlns="" val="1936122837"/>
                    </a:ext>
                  </a:extLst>
                </a:gridCol>
              </a:tblGrid>
              <a:tr h="651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Run</a:t>
                      </a:r>
                      <a:r>
                        <a:rPr lang="en-US" altLang="ko-KR" sz="2800" baseline="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Setup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Value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415497"/>
                  </a:ext>
                </a:extLst>
              </a:tr>
              <a:tr h="510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Replication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Length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1440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24919"/>
                  </a:ext>
                </a:extLst>
              </a:tr>
              <a:tr h="4419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Hours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per Day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24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7296878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Number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of Replication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10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26024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86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결과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Entity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154974"/>
              </p:ext>
            </p:extLst>
          </p:nvPr>
        </p:nvGraphicFramePr>
        <p:xfrm>
          <a:off x="3116619" y="2721103"/>
          <a:ext cx="5958762" cy="1737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649">
                  <a:extLst>
                    <a:ext uri="{9D8B030D-6E8A-4147-A177-3AD203B41FA5}">
                      <a16:colId xmlns:a16="http://schemas.microsoft.com/office/drawing/2014/main" xmlns="" val="2322404599"/>
                    </a:ext>
                  </a:extLst>
                </a:gridCol>
                <a:gridCol w="4123113">
                  <a:extLst>
                    <a:ext uri="{9D8B030D-6E8A-4147-A177-3AD203B41FA5}">
                      <a16:colId xmlns:a16="http://schemas.microsoft.com/office/drawing/2014/main" xmlns="" val="1936122837"/>
                    </a:ext>
                  </a:extLst>
                </a:gridCol>
              </a:tblGrid>
              <a:tr h="4873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Entity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Total time average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415497"/>
                  </a:ext>
                </a:extLst>
              </a:tr>
              <a:tr h="344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Airplane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220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24919"/>
                  </a:ext>
                </a:extLst>
              </a:tr>
              <a:tr h="426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Luggage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160.42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72968784"/>
                  </a:ext>
                </a:extLst>
              </a:tr>
              <a:tr h="426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Passenger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98.7216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26024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86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결과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Queue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594764"/>
              </p:ext>
            </p:extLst>
          </p:nvPr>
        </p:nvGraphicFramePr>
        <p:xfrm>
          <a:off x="2678162" y="2002539"/>
          <a:ext cx="5684442" cy="4219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0871">
                  <a:extLst>
                    <a:ext uri="{9D8B030D-6E8A-4147-A177-3AD203B41FA5}">
                      <a16:colId xmlns:a16="http://schemas.microsoft.com/office/drawing/2014/main" xmlns="" val="2322404599"/>
                    </a:ext>
                  </a:extLst>
                </a:gridCol>
                <a:gridCol w="2593571">
                  <a:extLst>
                    <a:ext uri="{9D8B030D-6E8A-4147-A177-3AD203B41FA5}">
                      <a16:colId xmlns:a16="http://schemas.microsoft.com/office/drawing/2014/main" xmlns="" val="1936122837"/>
                    </a:ext>
                  </a:extLst>
                </a:gridCol>
              </a:tblGrid>
              <a:tr h="5411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Queue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Waiting</a:t>
                      </a:r>
                      <a:r>
                        <a:rPr lang="en-US" altLang="ko-KR" sz="2800" baseline="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Time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415497"/>
                  </a:ext>
                </a:extLst>
              </a:tr>
              <a:tr h="525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Counter 1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11.08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24919"/>
                  </a:ext>
                </a:extLst>
              </a:tr>
              <a:tr h="525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Counter 2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9.06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72968784"/>
                  </a:ext>
                </a:extLst>
              </a:tr>
              <a:tr h="525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Counter 3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15.40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26024844"/>
                  </a:ext>
                </a:extLst>
              </a:tr>
              <a:tr h="5255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Counter 4</a:t>
                      </a:r>
                      <a:endParaRPr lang="ko-KR" altLang="en-US" sz="1800" dirty="0" smtClean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18.77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0522571"/>
                  </a:ext>
                </a:extLst>
              </a:tr>
              <a:tr h="5255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Counter 5</a:t>
                      </a:r>
                      <a:endParaRPr lang="ko-KR" altLang="en-US" sz="1800" dirty="0" smtClean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12.43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059591"/>
                  </a:ext>
                </a:extLst>
              </a:tr>
              <a:tr h="5255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Counter 6</a:t>
                      </a:r>
                      <a:endParaRPr lang="ko-KR" altLang="en-US" sz="1800" dirty="0" smtClean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16.00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0463122"/>
                  </a:ext>
                </a:extLst>
              </a:tr>
              <a:tr h="525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Body Inspection Machine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rgbClr val="FF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40.97</a:t>
                      </a:r>
                      <a:endParaRPr lang="ko-KR" altLang="en-US" sz="1800" dirty="0">
                        <a:solidFill>
                          <a:srgbClr val="FF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58919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95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결과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Utilization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753697"/>
              </p:ext>
            </p:extLst>
          </p:nvPr>
        </p:nvGraphicFramePr>
        <p:xfrm>
          <a:off x="3301617" y="2097695"/>
          <a:ext cx="4828230" cy="3655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034">
                  <a:extLst>
                    <a:ext uri="{9D8B030D-6E8A-4147-A177-3AD203B41FA5}">
                      <a16:colId xmlns:a16="http://schemas.microsoft.com/office/drawing/2014/main" xmlns="" val="2322404599"/>
                    </a:ext>
                  </a:extLst>
                </a:gridCol>
                <a:gridCol w="2610196">
                  <a:extLst>
                    <a:ext uri="{9D8B030D-6E8A-4147-A177-3AD203B41FA5}">
                      <a16:colId xmlns:a16="http://schemas.microsoft.com/office/drawing/2014/main" xmlns="" val="1936122837"/>
                    </a:ext>
                  </a:extLst>
                </a:gridCol>
              </a:tblGrid>
              <a:tr h="5021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aseline="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Resource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Utilization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415497"/>
                  </a:ext>
                </a:extLst>
              </a:tr>
              <a:tr h="506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Staff 1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0.53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24919"/>
                  </a:ext>
                </a:extLst>
              </a:tr>
              <a:tr h="506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Staff 2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0.52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72968784"/>
                  </a:ext>
                </a:extLst>
              </a:tr>
              <a:tr h="506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Staff 3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0.52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26024844"/>
                  </a:ext>
                </a:extLst>
              </a:tr>
              <a:tr h="506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Staff 4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0.48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0522571"/>
                  </a:ext>
                </a:extLst>
              </a:tr>
              <a:tr h="6070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Staff 5</a:t>
                      </a:r>
                      <a:endParaRPr lang="ko-KR" altLang="en-US" sz="1800" dirty="0" smtClean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0.58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059591"/>
                  </a:ext>
                </a:extLst>
              </a:tr>
              <a:tr h="506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Checkin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Staff 6</a:t>
                      </a:r>
                      <a:endParaRPr lang="ko-KR" altLang="en-US" sz="1800" dirty="0" smtClean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0.56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0463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50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비교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개선 내용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2482736" y="2455615"/>
            <a:ext cx="6866312" cy="212805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14453" y="3052989"/>
            <a:ext cx="7802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Body Inspection Machine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capacity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</a:t>
            </a:r>
            <a:endParaRPr lang="en-US" altLang="ko-KR" sz="2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-&gt;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</a:t>
            </a:r>
            <a:r>
              <a:rPr lang="ko-KR" altLang="en-US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변경</a:t>
            </a:r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279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비교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Queue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501486"/>
              </p:ext>
            </p:extLst>
          </p:nvPr>
        </p:nvGraphicFramePr>
        <p:xfrm>
          <a:off x="1331501" y="3251026"/>
          <a:ext cx="9159162" cy="9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2929">
                  <a:extLst>
                    <a:ext uri="{9D8B030D-6E8A-4147-A177-3AD203B41FA5}">
                      <a16:colId xmlns:a16="http://schemas.microsoft.com/office/drawing/2014/main" xmlns="" val="2322404599"/>
                    </a:ext>
                  </a:extLst>
                </a:gridCol>
                <a:gridCol w="3258589">
                  <a:extLst>
                    <a:ext uri="{9D8B030D-6E8A-4147-A177-3AD203B41FA5}">
                      <a16:colId xmlns:a16="http://schemas.microsoft.com/office/drawing/2014/main" xmlns="" val="1936122837"/>
                    </a:ext>
                  </a:extLst>
                </a:gridCol>
                <a:gridCol w="2967644">
                  <a:extLst>
                    <a:ext uri="{9D8B030D-6E8A-4147-A177-3AD203B41FA5}">
                      <a16:colId xmlns:a16="http://schemas.microsoft.com/office/drawing/2014/main" xmlns="" val="273936713"/>
                    </a:ext>
                  </a:extLst>
                </a:gridCol>
              </a:tblGrid>
              <a:tr h="4357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Queue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Before Waiting</a:t>
                      </a:r>
                      <a:r>
                        <a:rPr lang="en-US" altLang="ko-KR" sz="2400" baseline="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Time 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After</a:t>
                      </a:r>
                      <a:r>
                        <a:rPr lang="en-US" altLang="ko-KR" sz="2400" baseline="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Waiting Time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415497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Body Inspection Machine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40.97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2.56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24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46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648"/>
            </a:avLst>
          </a:prstGeom>
          <a:solidFill>
            <a:srgbClr val="FEC576"/>
          </a:solidFill>
          <a:ln>
            <a:solidFill>
              <a:srgbClr val="FEC5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9958" y="349134"/>
            <a:ext cx="861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DA63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시뮬레이션 비교</a:t>
            </a:r>
            <a:endParaRPr lang="ko-KR" altLang="en-US" sz="3600" dirty="0">
              <a:solidFill>
                <a:srgbClr val="FDA63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58" y="1171542"/>
            <a:ext cx="578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Utilization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982902"/>
              </p:ext>
            </p:extLst>
          </p:nvPr>
        </p:nvGraphicFramePr>
        <p:xfrm>
          <a:off x="3501123" y="2476935"/>
          <a:ext cx="482823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034">
                  <a:extLst>
                    <a:ext uri="{9D8B030D-6E8A-4147-A177-3AD203B41FA5}">
                      <a16:colId xmlns:a16="http://schemas.microsoft.com/office/drawing/2014/main" xmlns="" val="2322404599"/>
                    </a:ext>
                  </a:extLst>
                </a:gridCol>
                <a:gridCol w="2610196">
                  <a:extLst>
                    <a:ext uri="{9D8B030D-6E8A-4147-A177-3AD203B41FA5}">
                      <a16:colId xmlns:a16="http://schemas.microsoft.com/office/drawing/2014/main" xmlns="" val="1936122837"/>
                    </a:ext>
                  </a:extLst>
                </a:gridCol>
              </a:tblGrid>
              <a:tr h="5021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aseline="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Resource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Utilization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415497"/>
                  </a:ext>
                </a:extLst>
              </a:tr>
              <a:tr h="5061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Body Inspection Machine 1</a:t>
                      </a:r>
                      <a:endParaRPr lang="ko-KR" altLang="en-US" sz="1800" dirty="0" smtClean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0.57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24919"/>
                  </a:ext>
                </a:extLst>
              </a:tr>
              <a:tr h="5061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Body Inspection Machine</a:t>
                      </a:r>
                      <a:r>
                        <a:rPr lang="ko-KR" altLang="en-US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2</a:t>
                      </a:r>
                      <a:endParaRPr lang="ko-KR" altLang="en-US" sz="1800" dirty="0" smtClean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0.56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72968784"/>
                  </a:ext>
                </a:extLst>
              </a:tr>
              <a:tr h="5061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Body Inspection Machine</a:t>
                      </a:r>
                      <a:r>
                        <a:rPr lang="ko-KR" altLang="en-US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en-US" altLang="ko-KR" sz="1800" baseline="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3</a:t>
                      </a:r>
                      <a:endParaRPr lang="ko-KR" altLang="en-US" sz="1800" dirty="0" smtClean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0.62</a:t>
                      </a:r>
                      <a:endParaRPr lang="ko-KR" alt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26024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28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나눔스퀘어_ac Bold"/>
        <a:ea typeface="나눔스퀘어_ac Bold"/>
        <a:cs typeface=""/>
      </a:majorFont>
      <a:minorFont>
        <a:latin typeface="나눔스퀘어_ac Bold"/>
        <a:ea typeface="나눔스퀘어_ac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배달의민족 주아"/>
            <a:ea typeface="배달의민족 주아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505</Words>
  <Application>Microsoft Office PowerPoint</Application>
  <PresentationFormat>사용자 지정</PresentationFormat>
  <Paragraphs>235</Paragraphs>
  <Slides>27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28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HP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IISE71931</dc:creator>
  <cp:lastModifiedBy>LG</cp:lastModifiedBy>
  <cp:revision>49</cp:revision>
  <dcterms:created xsi:type="dcterms:W3CDTF">2019-11-12T08:38:56Z</dcterms:created>
  <dcterms:modified xsi:type="dcterms:W3CDTF">2020-07-18T05:27:04Z</dcterms:modified>
</cp:coreProperties>
</file>